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10908792" cy="320040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4005072"/>
            <a:ext cx="1090879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VulGCL: Multimodal Vulnerability Detection</a:t>
            </a:r>
          </a:p>
          <a:p>
            <a:pPr algn="ctr"/>
            <a:r>
              <a:rPr sz="3000" b="1">
                <a:solidFill>
                  <a:srgbClr val="FFFFFF"/>
                </a:solidFill>
              </a:rPr>
              <a:t>via Graph Neural Network, CNN,</a:t>
            </a:r>
          </a:p>
          <a:p>
            <a:pPr algn="ctr"/>
            <a:r>
              <a:rPr sz="3000" b="1">
                <a:solidFill>
                  <a:srgbClr val="FFFFFF"/>
                </a:solidFill>
              </a:rPr>
              <a:t>and Large Language Model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Mohammad Mahafuj Rahman</a:t>
            </a:r>
          </a:p>
          <a:p>
            <a:pPr algn="ctr"/>
            <a:r>
              <a:rPr sz="1500" b="0">
                <a:solidFill>
                  <a:srgbClr val="B0B8C8"/>
                </a:solidFill>
              </a:rPr>
              <a:t>Supervisor: Prof. LiLi Bo</a:t>
            </a:r>
          </a:p>
          <a:p>
            <a:pPr algn="ctr"/>
            <a:r>
              <a:rPr sz="1400" b="0">
                <a:solidFill>
                  <a:srgbClr val="B0B8C8"/>
                </a:solidFill>
              </a:rPr>
              <a:t>School of Information Engineering, Yangzhou University</a:t>
            </a:r>
          </a:p>
          <a:p>
            <a:pPr algn="ctr"/>
            <a:r>
              <a:rPr sz="1300" b="0">
                <a:solidFill>
                  <a:srgbClr val="7FAED4"/>
                </a:solidFill>
              </a:rPr>
              <a:t>Mid-Term Progress Assessment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577840" cy="2331720"/>
          </a:xfrm>
          <a:prstGeom prst="rect">
            <a:avLst/>
          </a:prstGeom>
          <a:solidFill>
            <a:srgbClr val="F0F4F8"/>
          </a:solidFill>
          <a:ln w="635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005840" cy="2331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82880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Research Background &amp; Motivation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577840" cy="2331720"/>
          </a:xfrm>
          <a:prstGeom prst="rect">
            <a:avLst/>
          </a:prstGeom>
          <a:solidFill>
            <a:srgbClr val="F0F4F8"/>
          </a:solidFill>
          <a:ln w="635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1005840" cy="2331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82880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96596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Research Content &amp; Methodology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03320"/>
            <a:ext cx="5577840" cy="2331720"/>
          </a:xfrm>
          <a:prstGeom prst="rect">
            <a:avLst/>
          </a:prstGeom>
          <a:solidFill>
            <a:srgbClr val="F0F4F8"/>
          </a:solidFill>
          <a:ln w="635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703320"/>
            <a:ext cx="1005840" cy="2331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434340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480559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Research Achievements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5577840" cy="2331720"/>
          </a:xfrm>
          <a:prstGeom prst="rect">
            <a:avLst/>
          </a:prstGeom>
          <a:solidFill>
            <a:srgbClr val="F0F4F8"/>
          </a:solidFill>
          <a:ln w="635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1005840" cy="2331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434340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480559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Research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1E5090"/>
                </a:solidFill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83280"/>
            <a:ext cx="109728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Research Background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8C8"/>
                </a:solidFill>
              </a:rPr>
              <a:t>The vulnerability detection problem, why current approaches fall short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Background: Why Vulnerability Detection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657600" cy="21031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36576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4D8"/>
                </a:solidFill>
              </a:rPr>
              <a:t>28,000+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103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677"/>
                </a:solidFill>
              </a:rPr>
              <a:t>New CVEs published
in 2024  (NVD)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960120"/>
            <a:ext cx="3657600" cy="2103120"/>
          </a:xfrm>
          <a:prstGeom prst="rect">
            <a:avLst/>
          </a:prstGeom>
          <a:solidFill>
            <a:srgbClr val="F0F4F8"/>
          </a:solidFill>
          <a:ln w="254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960120"/>
            <a:ext cx="3657600" cy="9144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1887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77F00"/>
                </a:solidFill>
              </a:rPr>
              <a:t>$4.45M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2103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677"/>
                </a:solidFill>
              </a:rPr>
              <a:t>Average cost of a
data breach  (IBM 2023)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960120"/>
            <a:ext cx="3657600" cy="2103120"/>
          </a:xfrm>
          <a:prstGeom prst="rect">
            <a:avLst/>
          </a:prstGeom>
          <a:solidFill>
            <a:srgbClr val="F0F4F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960120"/>
            <a:ext cx="365760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1887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74C3C"/>
                </a:solidFill>
              </a:rPr>
              <a:t>96%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103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677"/>
                </a:solidFill>
              </a:rPr>
              <a:t>Codebases containing open-source
components with known vulns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200400"/>
            <a:ext cx="11521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6B"/>
                </a:solidFill>
              </a:rPr>
              <a:t>The Challenge: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Modern software is complex and frequently updated. Manual code review is:</a:t>
            </a:r>
          </a:p>
          <a:p>
            <a:pPr algn="l"/>
            <a:r>
              <a:rPr sz="1300" b="0">
                <a:solidFill>
                  <a:srgbClr val="556677"/>
                </a:solidFill>
              </a:rPr>
              <a:t>  ▸  Slow — a single security audit can take weeks for large codebases</a:t>
            </a:r>
          </a:p>
          <a:p>
            <a:pPr algn="l"/>
            <a:r>
              <a:rPr sz="1300" b="0">
                <a:solidFill>
                  <a:srgbClr val="556677"/>
                </a:solidFill>
              </a:rPr>
              <a:t>  ▸  Expensive — senior security engineers are scarce and costly</a:t>
            </a:r>
          </a:p>
          <a:p>
            <a:pPr algn="l"/>
            <a:r>
              <a:rPr sz="1300" b="0">
                <a:solidFill>
                  <a:srgbClr val="556677"/>
                </a:solidFill>
              </a:rPr>
              <a:t>  ▸  Incomplete — humans miss subtle inter-procedural vulnerabilities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Automated deep-learning-based detection has emerged as critical — but existing approaches</a:t>
            </a:r>
          </a:p>
          <a:p>
            <a:pPr algn="l"/>
            <a:r>
              <a:rPr sz="1400" b="1">
                <a:solidFill>
                  <a:srgbClr val="F77F00"/>
                </a:solidFill>
              </a:rPr>
              <a:t>each capture only ONE perspective of code, missing the full vulnerability picture.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Motivation: The Critical Gap in Existing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9576" y="932688"/>
            <a:ext cx="2377440" cy="603504"/>
          </a:xfrm>
          <a:prstGeom prst="rect">
            <a:avLst/>
          </a:prstGeom>
          <a:solidFill>
            <a:srgbClr val="1B3A6B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5296" y="1005840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7016" y="932688"/>
            <a:ext cx="1325880" cy="603504"/>
          </a:xfrm>
          <a:prstGeom prst="rect">
            <a:avLst/>
          </a:prstGeom>
          <a:solidFill>
            <a:srgbClr val="1B3A6B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1005840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Graph</a:t>
            </a:r>
          </a:p>
        </p:txBody>
      </p:sp>
      <p:sp>
        <p:nvSpPr>
          <p:cNvPr id="9" name="Rectangle 8"/>
          <p:cNvSpPr/>
          <p:nvPr/>
        </p:nvSpPr>
        <p:spPr>
          <a:xfrm>
            <a:off x="4882896" y="932688"/>
            <a:ext cx="1325880" cy="603504"/>
          </a:xfrm>
          <a:prstGeom prst="rect">
            <a:avLst/>
          </a:prstGeom>
          <a:solidFill>
            <a:srgbClr val="1B3A6B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28616" y="1005840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8776" y="932688"/>
            <a:ext cx="1325880" cy="603504"/>
          </a:xfrm>
          <a:prstGeom prst="rect">
            <a:avLst/>
          </a:prstGeom>
          <a:solidFill>
            <a:srgbClr val="1B3A6B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005840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34656" y="932688"/>
            <a:ext cx="1920240" cy="603504"/>
          </a:xfrm>
          <a:prstGeom prst="rect">
            <a:avLst/>
          </a:prstGeom>
          <a:solidFill>
            <a:srgbClr val="1B3A6B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0376" y="100584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General
C/C++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54896" y="932688"/>
            <a:ext cx="1554480" cy="603504"/>
          </a:xfrm>
          <a:prstGeom prst="rect">
            <a:avLst/>
          </a:prstGeom>
          <a:solidFill>
            <a:srgbClr val="1B3A6B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0616" y="1005840"/>
            <a:ext cx="1463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Edge
Deploy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79576" y="1536192"/>
            <a:ext cx="237744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5296" y="1609344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VulCNN (2022)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57016" y="1536192"/>
            <a:ext cx="13258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1609344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82896" y="1536192"/>
            <a:ext cx="13258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8616" y="1609344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1536192"/>
            <a:ext cx="13258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1609344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34656" y="1536192"/>
            <a:ext cx="192024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0376" y="160934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54896" y="1536192"/>
            <a:ext cx="15544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1609344"/>
            <a:ext cx="1463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79576" y="2139696"/>
            <a:ext cx="237744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25296" y="2212848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ReGVD (2022)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57016" y="2139696"/>
            <a:ext cx="132588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2736" y="2212848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82896" y="2139696"/>
            <a:ext cx="132588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28616" y="2212848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8776" y="2139696"/>
            <a:ext cx="132588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4496" y="2212848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34656" y="2139696"/>
            <a:ext cx="192024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0376" y="221284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54896" y="2139696"/>
            <a:ext cx="155448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0616" y="2212848"/>
            <a:ext cx="1463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79576" y="2743200"/>
            <a:ext cx="237744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25296" y="2816352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VulGAI (2023)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57016" y="2743200"/>
            <a:ext cx="13258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2736" y="2816352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82896" y="2743200"/>
            <a:ext cx="13258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28616" y="2816352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8776" y="2743200"/>
            <a:ext cx="13258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54496" y="2816352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34656" y="2743200"/>
            <a:ext cx="192024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0376" y="281635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54896" y="2743200"/>
            <a:ext cx="15544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0616" y="2816352"/>
            <a:ext cx="1463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79576" y="3346704"/>
            <a:ext cx="237744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25296" y="3419856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VulSCC (2026)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57016" y="3346704"/>
            <a:ext cx="132588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02736" y="3419856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82896" y="3346704"/>
            <a:ext cx="132588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28616" y="3419856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08776" y="3346704"/>
            <a:ext cx="132588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54496" y="3419856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34656" y="3346704"/>
            <a:ext cx="192024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0376" y="3419856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54896" y="3346704"/>
            <a:ext cx="1554480" cy="603504"/>
          </a:xfrm>
          <a:prstGeom prst="rect">
            <a:avLst/>
          </a:prstGeom>
          <a:solidFill>
            <a:srgbClr val="F0F4F8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00616" y="3419856"/>
            <a:ext cx="1463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79576" y="3950208"/>
            <a:ext cx="237744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25296" y="4023360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TMF-Net (2025)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57016" y="3950208"/>
            <a:ext cx="13258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02736" y="4023360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82896" y="3950208"/>
            <a:ext cx="13258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28616" y="4023360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08776" y="3950208"/>
            <a:ext cx="13258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4496" y="4023360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34656" y="3950208"/>
            <a:ext cx="192024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80376" y="402336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 Solidity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54896" y="3950208"/>
            <a:ext cx="155448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00616" y="4023360"/>
            <a:ext cx="1463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79576" y="4553712"/>
            <a:ext cx="2377440" cy="603504"/>
          </a:xfrm>
          <a:prstGeom prst="rect">
            <a:avLst/>
          </a:prstGeom>
          <a:solidFill>
            <a:srgbClr val="E8F5E9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25296" y="4626864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VulGCL (Ours) 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57016" y="4553712"/>
            <a:ext cx="1325880" cy="603504"/>
          </a:xfrm>
          <a:prstGeom prst="rect">
            <a:avLst/>
          </a:prstGeom>
          <a:solidFill>
            <a:srgbClr val="E8F5E9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02736" y="4626864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2896" y="4553712"/>
            <a:ext cx="1325880" cy="603504"/>
          </a:xfrm>
          <a:prstGeom prst="rect">
            <a:avLst/>
          </a:prstGeom>
          <a:solidFill>
            <a:srgbClr val="E8F5E9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28616" y="4626864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08776" y="4553712"/>
            <a:ext cx="1325880" cy="603504"/>
          </a:xfrm>
          <a:prstGeom prst="rect">
            <a:avLst/>
          </a:prstGeom>
          <a:solidFill>
            <a:srgbClr val="E8F5E9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54496" y="4626864"/>
            <a:ext cx="1234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34656" y="4553712"/>
            <a:ext cx="1920240" cy="603504"/>
          </a:xfrm>
          <a:prstGeom prst="rect">
            <a:avLst/>
          </a:prstGeom>
          <a:solidFill>
            <a:srgbClr val="E8F5E9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80376" y="462686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54896" y="4553712"/>
            <a:ext cx="1554480" cy="603504"/>
          </a:xfrm>
          <a:prstGeom prst="rect">
            <a:avLst/>
          </a:prstGeom>
          <a:solidFill>
            <a:srgbClr val="E8F5E9"/>
          </a:solidFill>
          <a:ln w="508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00616" y="4626864"/>
            <a:ext cx="1463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5102352"/>
            <a:ext cx="11548872" cy="749808"/>
          </a:xfrm>
          <a:prstGeom prst="rect">
            <a:avLst/>
          </a:prstGeom>
          <a:solidFill>
            <a:srgbClr val="FFF3CD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18464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3F00"/>
                </a:solidFill>
              </a:rPr>
              <a:t>⚑  VulGCL is the FIRST approach to combine Graph + Image + LLM for general C/C++ vulnerability detection, with edge deployment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Related Work: Evolution of Deep-Learning Vulnerability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11064240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4632" y="3182112"/>
            <a:ext cx="22860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3429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" y="960120"/>
            <a:ext cx="1280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77"/>
                </a:solidFill>
              </a:rPr>
              <a:t>Devign
Dataset
(NeurIPS)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3432" y="3182112"/>
            <a:ext cx="22860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79" y="3429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79476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VulCNN
ICSE 2022
Image-based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2232" y="3182112"/>
            <a:ext cx="228600" cy="228600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3429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960120"/>
            <a:ext cx="1280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7A99"/>
                </a:solidFill>
              </a:rPr>
              <a:t>ReGVD
ICSE-C 2022
Graph-based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71032" y="3182112"/>
            <a:ext cx="228600" cy="2286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3429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79476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7F00"/>
                </a:solidFill>
              </a:rPr>
              <a:t>VulGAI
C&amp;S 2023
Graph+Image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2712" y="3182112"/>
            <a:ext cx="228600" cy="228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429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960120"/>
            <a:ext cx="1280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TMF-Net
Info.Fusion 2025
SmartContract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85832" y="3182112"/>
            <a:ext cx="22860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429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379476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VulGCL
(Ours)
Full Fusion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920240"/>
            <a:ext cx="4114800" cy="68580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99339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✓ VulGCL closes the gap
   for general C/C++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1E5090"/>
                </a:solidFill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83280"/>
            <a:ext cx="109728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Research Content &amp;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8C8"/>
                </a:solidFill>
              </a:rPr>
              <a:t>Three-branch multimodal architecture with Stack Overflow signal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VulGCL — Overall Three-Branch Multimodal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914400"/>
            <a:ext cx="3493008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52544" y="96012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C/C++ Function (Source Code Input)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54480"/>
            <a:ext cx="3566160" cy="352044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54480"/>
            <a:ext cx="356616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002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Graph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21408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Joern → PDG
GATConv × 3
(message passing
with attention)
global_mean_pool
h_G  ∈ ℝ²⁵⁶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554480"/>
            <a:ext cx="3566160" cy="3520440"/>
          </a:xfrm>
          <a:prstGeom prst="rect">
            <a:avLst/>
          </a:prstGeom>
          <a:solidFill>
            <a:srgbClr val="F0F4F8"/>
          </a:solidFill>
          <a:ln w="254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554480"/>
            <a:ext cx="3566160" cy="475488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16002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Image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121408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PDG → Centrality
(degree / Katz /
closeness)
3-channel Matrix
CNN Layers
h_I  ∈ ℝ²⁵⁶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94192" y="1554480"/>
            <a:ext cx="3566160" cy="3520440"/>
          </a:xfrm>
          <a:prstGeom prst="rect">
            <a:avLst/>
          </a:prstGeom>
          <a:solidFill>
            <a:srgbClr val="F0F4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94192" y="1554480"/>
            <a:ext cx="356616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6002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LLM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121408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Tokenize code
CodeBERT
(12 Transformer
layers)
[CLS] embedding
h_L  ∈ ℝ²⁵⁶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230368"/>
            <a:ext cx="9445752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294376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Concatenate  [ h_G  ‖  h_I  ‖  h_L ]  →  768-dim  →  MLP Classifier  →  sigmoid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5989320"/>
            <a:ext cx="2743200" cy="521207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60533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Vulnerable  (1)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85432" y="5989320"/>
            <a:ext cx="2743200" cy="521207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5432" y="60533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Safe  (0)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Branch 1: Program Dependency Graph (PDG) + Graph Attention Network (GAT)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612648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6B"/>
                </a:solidFill>
              </a:rPr>
              <a:t>What is a PDG?</a:t>
            </a:r>
          </a:p>
          <a:p>
            <a:pPr algn="l"/>
            <a:r>
              <a:rPr sz="4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A Program Dependency Graph represents code as a directed network: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•  Nodes  = individual statements (declarations, assignments, calls)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•  Data edges  = 'variable defined here, used there'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•  Control edges  = 'this line runs only if that condition holds'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1B3A6B"/>
                </a:solidFill>
              </a:rPr>
              <a:t>Why GAT (Graph Attention Network)?</a:t>
            </a:r>
          </a:p>
          <a:p>
            <a:pPr algn="l"/>
            <a:r>
              <a:rPr sz="4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Not all dependencies matter equally. GAT learns attention weights: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•  high weight → vulnerability-critical edge (e.g. input→strcpy)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•  low weight  → irrelevant comment or unused assignment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After 3 rounds of message passing → global_mean_pool</a:t>
            </a:r>
          </a:p>
          <a:p>
            <a:pPr algn="l"/>
            <a:r>
              <a:rPr sz="1300" b="1">
                <a:solidFill>
                  <a:srgbClr val="00B4D8"/>
                </a:solidFill>
              </a:rPr>
              <a:t>→  h_G ∈ ℝ²⁵⁶  (structural vulnerability signature)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1B3A6B"/>
                </a:solidFill>
              </a:rPr>
              <a:t>Joern Tool: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Automatically extracts PDG from C/C++ source.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Output: nodes + edges as JSON → parsed into PyG Data object.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914400"/>
            <a:ext cx="5257800" cy="3063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987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A9955"/>
                </a:solidFill>
              </a:rPr>
              <a:t>// Vulnerable example — Buffer Overflow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41732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void copy(char *input) {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  char buf[10];         // Node A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  int n = strlen(input); // Node B</a:t>
            </a:r>
          </a:p>
          <a:p>
            <a:pPr algn="l"/>
            <a:r>
              <a:rPr sz="1200" b="0">
                <a:solidFill>
                  <a:srgbClr val="E74C3C"/>
                </a:solidFill>
              </a:rPr>
              <a:t>  strcpy(buf, input);   // Node C ⚠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4114800"/>
            <a:ext cx="5257800" cy="2514600"/>
          </a:xfrm>
          <a:prstGeom prst="rect">
            <a:avLst/>
          </a:prstGeom>
          <a:solidFill>
            <a:srgbClr val="F0F4F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420624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PDG edges (extracted by Joern):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input  →  Node B  [data dependency]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input  →  Node C  [data dependency]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Node A  →  Node C  [data: buf]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77F00"/>
                </a:solidFill>
              </a:rPr>
              <a:t>⚠  No bounds-check node between input and strcpy!</a:t>
            </a:r>
          </a:p>
          <a:p>
            <a:pPr algn="l"/>
            <a:r>
              <a:rPr sz="1200" b="1">
                <a:solidFill>
                  <a:srgbClr val="E74C3C"/>
                </a:solidFill>
              </a:rPr>
              <a:t>    GAT learns this pattern = VULNERABLE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Branch 2: PDG Centrality Encoding → CNN (inspired by VulCNN)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612648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6B"/>
                </a:solidFill>
              </a:rPr>
              <a:t>Core Idea:</a:t>
            </a:r>
          </a:p>
          <a:p>
            <a:pPr algn="l"/>
            <a:r>
              <a:rPr sz="4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Convert the PDG into a 3-channel image using graph centrality,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then apply a CNN to learn vulnerability shape patterns.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1B3A6B"/>
                </a:solidFill>
              </a:rPr>
              <a:t>Three Centrality Channels:</a:t>
            </a:r>
          </a:p>
          <a:p>
            <a:pPr algn="l"/>
            <a:r>
              <a:rPr sz="4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00B4D8"/>
                </a:solidFill>
              </a:rPr>
              <a:t>  Ch.1  Degree Centrality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→ How many direct connections does this statement have?</a:t>
            </a:r>
          </a:p>
          <a:p>
            <a:pPr algn="l"/>
            <a:r>
              <a:rPr sz="3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77F00"/>
                </a:solidFill>
              </a:rPr>
              <a:t>  Ch.2  Katz Centrality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→ Influence through ALL paths (direct + indirect)</a:t>
            </a:r>
          </a:p>
          <a:p>
            <a:pPr algn="l"/>
            <a:r>
              <a:rPr sz="3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27AE60"/>
                </a:solidFill>
              </a:rPr>
              <a:t>  Ch.3  Closeness Centrality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→ How quickly can this node reach all others?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Result:  N_nodes × N_neighbors × 3 channels  =  like an RGB image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1B3A6B"/>
                </a:solidFill>
              </a:rPr>
              <a:t>CNN Architecture: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  Conv(3→32) → ReLU → MaxPool(2)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  Conv(32→64) → ReLU → MaxPool(2)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  AdaptiveAvgPool(4×4) → Linear(1024→256)</a:t>
            </a:r>
          </a:p>
          <a:p>
            <a:pPr algn="l"/>
            <a:r>
              <a:rPr sz="1300" b="1">
                <a:solidFill>
                  <a:srgbClr val="F77F00"/>
                </a:solidFill>
              </a:rPr>
              <a:t>  →  h_I  ∈  ℝ²⁵⁶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005840"/>
            <a:ext cx="1627632" cy="192024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1005840"/>
            <a:ext cx="162763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042415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Degree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508760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508760"/>
            <a:ext cx="347472" cy="347472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508760"/>
            <a:ext cx="34747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920240"/>
            <a:ext cx="347472" cy="347472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60" y="1920240"/>
            <a:ext cx="34747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920240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2331720"/>
            <a:ext cx="34747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2331720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2331720"/>
            <a:ext cx="347472" cy="347472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85632" y="1005840"/>
            <a:ext cx="1627632" cy="1920240"/>
          </a:xfrm>
          <a:prstGeom prst="rect">
            <a:avLst/>
          </a:prstGeom>
          <a:solidFill>
            <a:srgbClr val="F0F4F8"/>
          </a:solidFill>
          <a:ln w="254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85632" y="1005840"/>
            <a:ext cx="1627632" cy="384048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042415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Katz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22792" y="1508760"/>
            <a:ext cx="347472" cy="347472"/>
          </a:xfrm>
          <a:prstGeom prst="rect">
            <a:avLst/>
          </a:prstGeom>
          <a:solidFill>
            <a:srgbClr val="B5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4272" y="1508760"/>
            <a:ext cx="34747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45752" y="1508760"/>
            <a:ext cx="347472" cy="347472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22792" y="1920240"/>
            <a:ext cx="34747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34272" y="1920240"/>
            <a:ext cx="347472" cy="347472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45752" y="1920240"/>
            <a:ext cx="347472" cy="347472"/>
          </a:xfrm>
          <a:prstGeom prst="rect">
            <a:avLst/>
          </a:prstGeom>
          <a:solidFill>
            <a:srgbClr val="B5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22792" y="2331720"/>
            <a:ext cx="347472" cy="347472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34272" y="2331720"/>
            <a:ext cx="347472" cy="347472"/>
          </a:xfrm>
          <a:prstGeom prst="rect">
            <a:avLst/>
          </a:prstGeom>
          <a:solidFill>
            <a:srgbClr val="B5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45752" y="2331720"/>
            <a:ext cx="34747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96144" y="1005840"/>
            <a:ext cx="1627632" cy="1920240"/>
          </a:xfrm>
          <a:prstGeom prst="rect">
            <a:avLst/>
          </a:prstGeom>
          <a:solidFill>
            <a:srgbClr val="F0F4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96144" y="1005840"/>
            <a:ext cx="1627632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96144" y="1042415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Closeness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33304" y="1508760"/>
            <a:ext cx="34747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844784" y="1508760"/>
            <a:ext cx="347472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56264" y="1508760"/>
            <a:ext cx="347472" cy="347472"/>
          </a:xfrm>
          <a:prstGeom prst="rect">
            <a:avLst/>
          </a:prstGeom>
          <a:solidFill>
            <a:srgbClr val="1A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33304" y="1920240"/>
            <a:ext cx="347472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844784" y="1920240"/>
            <a:ext cx="347472" cy="347472"/>
          </a:xfrm>
          <a:prstGeom prst="rect">
            <a:avLst/>
          </a:prstGeom>
          <a:solidFill>
            <a:srgbClr val="1A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256264" y="1920240"/>
            <a:ext cx="34747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33304" y="2331720"/>
            <a:ext cx="347472" cy="347472"/>
          </a:xfrm>
          <a:prstGeom prst="rect">
            <a:avLst/>
          </a:prstGeom>
          <a:solidFill>
            <a:srgbClr val="1A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844784" y="2331720"/>
            <a:ext cx="347472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256264" y="2331720"/>
            <a:ext cx="347472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31272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N×M  ×  3 channels  →  CNN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3703320"/>
            <a:ext cx="5303520" cy="1600200"/>
          </a:xfrm>
          <a:prstGeom prst="rect">
            <a:avLst/>
          </a:prstGeom>
          <a:solidFill>
            <a:srgbClr val="F0F4F8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379476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</a:rPr>
              <a:t>Why does this work?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Buffer overflow → high-degree sink node (the vulnerable buffer)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  with many incoming data edges and no check node nearby.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Use-after-free → characteristic closeness pattern around free().</a:t>
            </a:r>
          </a:p>
          <a:p>
            <a:pPr algn="l"/>
            <a:r>
              <a:rPr sz="1200" b="1">
                <a:solidFill>
                  <a:srgbClr val="F77F00"/>
                </a:solidFill>
              </a:rPr>
              <a:t>CNN learns to recognize these visual vulnerability signatures.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5440680"/>
            <a:ext cx="5303520" cy="5486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5504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Output:  h_I  ∈  ℝ²⁵⁶  — topological vulnerability signature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Branch 3: CodeBERT + [CLS] Token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612648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6B"/>
                </a:solidFill>
              </a:rPr>
              <a:t>Why CodeBERT?</a:t>
            </a:r>
          </a:p>
          <a:p>
            <a:pPr algn="l"/>
            <a:r>
              <a:rPr sz="4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Pretrained on 6M (code, documentation) pairs — understands that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strcpy is unsafe, free after malloc is dangerous, and connects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code semantics to natural-language vulnerability descriptions.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1B3A6B"/>
                </a:solidFill>
              </a:rPr>
              <a:t>Why NOT GraphCodeBERT?</a:t>
            </a:r>
          </a:p>
          <a:p>
            <a:pPr algn="l"/>
            <a:r>
              <a:rPr sz="4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GraphCodeBERT also encodes data flow — but our Graph Branch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already handles structural flow via GAT. Using GraphCodeBERT would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create redundant signals between branches. CodeBERT gives PURE</a:t>
            </a:r>
          </a:p>
          <a:p>
            <a:pPr algn="l"/>
            <a:r>
              <a:rPr sz="1300" b="1">
                <a:solidFill>
                  <a:srgbClr val="F77F00"/>
                </a:solidFill>
              </a:rPr>
              <a:t>semantic understanding with no structural overlap.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1B3A6B"/>
                </a:solidFill>
              </a:rPr>
              <a:t>The [CLS] Token:</a:t>
            </a:r>
          </a:p>
          <a:p>
            <a:pPr algn="l"/>
            <a:r>
              <a:rPr sz="4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After 12 transformer attention layers, [CLS] has attended to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every token in the function — it is the semantic summary.</a:t>
            </a:r>
          </a:p>
          <a:p>
            <a:pPr algn="l"/>
            <a:r>
              <a:rPr sz="1400" b="1">
                <a:solidFill>
                  <a:srgbClr val="27AE60"/>
                </a:solidFill>
              </a:rPr>
              <a:t>  [CLS] → 768-dim → Linear projection → h_L ∈ ℝ²⁵⁶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005840"/>
            <a:ext cx="5349240" cy="68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097280"/>
            <a:ext cx="5257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Source Code: void copy(char *input) { ...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7099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938528"/>
            <a:ext cx="5349240" cy="6858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29968"/>
            <a:ext cx="5257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[CLS] void copy ( char * input ) { ...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6426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2871216"/>
            <a:ext cx="5349240" cy="6858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962656"/>
            <a:ext cx="5257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8C8"/>
                </a:solidFill>
              </a:rPr>
              <a:t>Tokenizer  →  input_ids  +  attention_mask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5753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3803904"/>
            <a:ext cx="534924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895344"/>
            <a:ext cx="5257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12 × Multi-Head Self-Attention Layers  (CodeBERT)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5079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4736592"/>
            <a:ext cx="5349240" cy="6858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828031"/>
            <a:ext cx="5257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last_hidden_state[:, 0, :]   →   768-dim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544067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5669279"/>
            <a:ext cx="534924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760719"/>
            <a:ext cx="5257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Linear(768 → 256)   →   h_L  ∈  ℝ²⁵⁶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Questions &amp; Experimental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669280" cy="25146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66928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7840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99669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Fusion vs. single-branch baselines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Does triple fusion beat CodeBERT-only, GNN-only, CNN-only?
Dataset: Devign (27K) + BigVul (188K C/C++ functions)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14400"/>
            <a:ext cx="5669280" cy="2514600"/>
          </a:xfrm>
          <a:prstGeom prst="rect">
            <a:avLst/>
          </a:prstGeom>
          <a:solidFill>
            <a:srgbClr val="F0F4F8"/>
          </a:solidFill>
          <a:ln w="254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475488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97840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99669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Ablation: each branch's contribution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Remove one branch at a time. How much does F1 drop?
Proves each modality contributes uniquely.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5669280" cy="2514600"/>
          </a:xfrm>
          <a:prstGeom prst="rect">
            <a:avLst/>
          </a:prstGeom>
          <a:solidFill>
            <a:srgbClr val="F0F4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03320"/>
            <a:ext cx="566928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76732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5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State-of-the-art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VulGCL vs. VulCNN, ReGVD, VulGAI, VulSCC on standard benchmarks.
Metric: Accuracy, Precision, Recall, F1, AUC.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03320"/>
            <a:ext cx="5669280" cy="2514600"/>
          </a:xfrm>
          <a:prstGeom prst="rect">
            <a:avLst/>
          </a:prstGeom>
          <a:solidFill>
            <a:srgbClr val="F0F4F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03320"/>
            <a:ext cx="566928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376732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785615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Edge deployment (VulGCL-Lite)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9768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ONNX export + int8 quantization on Raspberry Pi 4B.
Measure: inference latency (ms) and RAM usage (MB).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Stack Overflow Community Signals — Auxiliary Training Supervision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11548872" cy="1508760"/>
          </a:xfrm>
          <a:prstGeom prst="rect">
            <a:avLst/>
          </a:prstGeom>
          <a:solidFill>
            <a:srgbClr val="F0F4F8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</a:rPr>
              <a:t>Key Finding — Chen et al., ICSE 2019: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Insecure Stack Overflow code snippets receive an average score of 14, vs. 5 for secure ones.</a:t>
            </a:r>
          </a:p>
          <a:p>
            <a:pPr algn="l"/>
            <a:r>
              <a:rPr sz="1300" b="1">
                <a:solidFill>
                  <a:srgbClr val="E74C3C"/>
                </a:solidFill>
              </a:rPr>
              <a:t>The community inadvertently upvotes insecure code. Raw votes CANNOT be used as labels 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606040"/>
            <a:ext cx="3657600" cy="310896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606040"/>
            <a:ext cx="365760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642616"/>
            <a:ext cx="3657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① Semgrep
Static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340156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Scan each SO code snippet for known
vulnerability patterns (buffer overflow,
SQL injection, use-after-free...)
→ Primary binary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74903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606040"/>
            <a:ext cx="3657600" cy="3108960"/>
          </a:xfrm>
          <a:prstGeom prst="rect">
            <a:avLst/>
          </a:prstGeom>
          <a:solidFill>
            <a:srgbClr val="F0F4F8"/>
          </a:solidFill>
          <a:ln w="254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606040"/>
            <a:ext cx="3657600" cy="59436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642616"/>
            <a:ext cx="3657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② Comment
Flag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91840"/>
            <a:ext cx="340156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Search for warning terms:
'insecure', 'vulnerable', 'don't use',
'deprecated', 'unsafe'
→ Confidence boost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374903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606040"/>
            <a:ext cx="3657600" cy="3108960"/>
          </a:xfrm>
          <a:prstGeom prst="rect">
            <a:avLst/>
          </a:prstGeom>
          <a:solidFill>
            <a:srgbClr val="F0F4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606040"/>
            <a:ext cx="36576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642616"/>
            <a:ext cx="3657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③ Accepted Answer
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91840"/>
            <a:ext cx="340156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Accepted answers = community-validated.
Used as a quality weight, not a direct
vulnerability label.
→ Sample weighting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870448"/>
            <a:ext cx="1154887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Composite label = f(Semgrep, comment flags, accepted-answer weight)  →  Augments Devign / BigVul with SO-derived training signal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1E5090"/>
                </a:solidFill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83280"/>
            <a:ext cx="109728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Research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8C8"/>
                </a:solidFill>
              </a:rPr>
              <a:t>Prior publications and current project milestones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11548872" cy="260604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47472" cy="2606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9264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6B"/>
                </a:solidFill>
              </a:rPr>
              <a:t>Published Journal Paper — TemCon  (4th Author)</a:t>
            </a:r>
          </a:p>
          <a:p>
            <a:pPr algn="l"/>
            <a:r>
              <a:rPr sz="4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1A1A2E"/>
                </a:solidFill>
              </a:rPr>
              <a:t>TemCon: An Approach to Fixing Concurrency Bugs by Extracting Templates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International Journal of Software Engineering and Knowledge Engineering (IJSEKE)</a:t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Vol. 36, No. 4, 2026 · Pages 549–566 · DOI: 10.1142/S0218194025500822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556677"/>
                </a:solidFill>
              </a:rPr>
              <a:t>Authors: Lili Bo, Guofeng Zhang, Yanchi Yuan, Mohammad Mahafuj Rahman, M.D. Shahnewaz Sakib, Yun Yang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Connection to VulGCL:  TemCon showed AST-based graphs capture structural bug patterns.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VulGCL extends this graph-structure insight to security vulnerabilities using PDGs + multimodal fusion.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703320"/>
            <a:ext cx="11548872" cy="2880360"/>
          </a:xfrm>
          <a:prstGeom prst="rect">
            <a:avLst/>
          </a:prstGeom>
          <a:solidFill>
            <a:srgbClr val="F0F4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703320"/>
            <a:ext cx="347472" cy="2880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VulGCL Project — Current Milestones (In Progress)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2511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Clean research-grade project architecture designed and version-controlled (Git)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72584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Paper skeleton: all 6 sections drafted, methodology + related work ~85%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20056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All 3 model branches implemented in PyTorch (GraphBranch, ImageBranch, LLMBranch)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67528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Baseline experiment configs created (GNN-only, CNN-only, CodeBERT-only, full model)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17 references populated (Joern, Devign, BigVul, CodeBERT, VulCNN, TMF-Net, TemCon...)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6247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7F00"/>
                </a:solidFill>
              </a:rPr>
              <a:t>◐  Datasets to download (Devign + BigVul) once NVMe SSD arrives — storage ready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1E5090"/>
                </a:solidFill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83280"/>
            <a:ext cx="109728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8C8"/>
                </a:solidFill>
              </a:rPr>
              <a:t>Step-by-step roadmap from implementation to journal submission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Plan — Phase 1–4: Environment, Data &amp; Model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914400"/>
            <a:ext cx="5669280" cy="2487168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914400"/>
            <a:ext cx="56692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6012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1–2
Weeks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2" y="10058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Environment &amp;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536192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Install PyTorch, PyG, Joern, CodeBERT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2103120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Download Devign (27K) + BigVul (188K)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2670048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Verify label distributions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14400"/>
            <a:ext cx="5669280" cy="2487168"/>
          </a:xfrm>
          <a:prstGeom prst="rect">
            <a:avLst/>
          </a:prstGeom>
          <a:solidFill>
            <a:srgbClr val="F0F4F8"/>
          </a:solidFill>
          <a:ln w="254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5669280" cy="50292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96012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
Weeks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0058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PDG Extraction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536192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Write build_pdg.py using Joern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103120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Write pdg_to_image.py (3-channel centrality)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670048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Test on real Devign function + visualize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657600"/>
            <a:ext cx="5669280" cy="2487168"/>
          </a:xfrm>
          <a:prstGeom prst="rect">
            <a:avLst/>
          </a:prstGeom>
          <a:solidFill>
            <a:srgbClr val="F0F4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3657600"/>
            <a:ext cx="56692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70332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4
Weeks 5–6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56232" y="374903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Full Data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4279392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Implement VulDataset (PyTorch Dataset)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4846320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Preprocess all Devign functions (cache)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" y="5413248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Verify DataLoader end-to-end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57600"/>
            <a:ext cx="5669280" cy="2487168"/>
          </a:xfrm>
          <a:prstGeom prst="rect">
            <a:avLst/>
          </a:prstGeom>
          <a:solidFill>
            <a:srgbClr val="F0F4F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657600"/>
            <a:ext cx="566928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370332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5–6
Weeks 7–8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74903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Training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279392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Verify each branch runs without errors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846320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Implement train.py + evaluate.py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5413248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Test 2 epochs on 500-sample subset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Plan — Phase 5–8: Experiments, Paper Writing &amp;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914400"/>
            <a:ext cx="5669280" cy="2487168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914400"/>
            <a:ext cx="56692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6012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7
Weeks 9–10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2" y="10058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Baseline Experiments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536192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Run CodeBERT-only / GNN-only / CNN-only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2103120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Record F1/AUC on Devign + BigVul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2670048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Fill paper Table II with real numbers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14400"/>
            <a:ext cx="5669280" cy="2487168"/>
          </a:xfrm>
          <a:prstGeom prst="rect">
            <a:avLst/>
          </a:prstGeom>
          <a:solidFill>
            <a:srgbClr val="F0F4F8"/>
          </a:solidFill>
          <a:ln w="254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5669280" cy="50292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96012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8
Weeks 11–13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0058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Full VulGCL + Ablation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536192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Run full model (3 random seeds, average)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103120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Ablation: remove one branch at a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670048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Edge benchmark on Raspberry Pi 4B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657600"/>
            <a:ext cx="5669280" cy="2487168"/>
          </a:xfrm>
          <a:prstGeom prst="rect">
            <a:avLst/>
          </a:prstGeom>
          <a:solidFill>
            <a:srgbClr val="F0F4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3657600"/>
            <a:ext cx="56692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70332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9
Weeks 14–15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56232" y="374903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Paper Completion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4279392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Finalize methodology &amp; result sections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4846320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Draw Figure 1 architecture diagram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" y="5413248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Complete discussion + conclusion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57600"/>
            <a:ext cx="5669280" cy="2487168"/>
          </a:xfrm>
          <a:prstGeom prst="rect">
            <a:avLst/>
          </a:prstGeom>
          <a:solidFill>
            <a:srgbClr val="F0F4F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657600"/>
            <a:ext cx="566928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370332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10
Weeks 16+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74903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Review &amp; Submission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279392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Draft to Prof. LiLi Bo for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846320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Address all feedback, second 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5413248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  •  Target: IEEE TIFS / IST journal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960120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[1]  Y. Wu et al., 'VulCNN: An Image-inspired Scalable Vulnerability Detection System,' ICSE 2022.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481328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[2]  V. Nguyen et al., 'ReGVD: Revisiting Graph Neural Networks for Vulnerability Detection,' ICSE-C 2022.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002536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[3]  W. Zhang &amp; J. Xin, 'VulGAI: Vulnerability Detection Based on Graphs and Images,' Computers &amp; Security, 2023.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523744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[4]  Z. Jian et al., 'VulSCC: Image-Based Vulnerability Detection with SPP-CNN and Code LLM,' Cybersecurity,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044952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[5]  T. Wang et al., 'TMF-Net: Multimodal Smart Contract Vulnerability Detection,' Information Fusion, 2025.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566159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[6]  Y. Zhou et al., 'Devign: Effective Vulnerability Identification via GNN,' NeurIPS 2019.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4087368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[7]  J. Fan et al., 'A C/C++ Code Vulnerability Dataset with Code Changes and CVE Summaries,' MSR 2020.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4608576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[8]  Z. Feng et al., 'CodeBERT: A Pre-Trained Model for Programming and Natural Languages,' EMNLP 2020.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5129783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[9]  F. Yamaguchi et al., 'Modeling and Discovering Vulnerabilities with Code Property Graphs,' IEEE S&amp;P 2014.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5650992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[10] M. Chen et al., 'How Reliable is the Crowdsourced Knowledge of Security Implementation?' ICSE 2019.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6172199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[11] L. Bo et al., 'TemCon: An Approach to Fixing Concurrency Bugs by Extracting Templates,' IJSEKE,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3108960"/>
            <a:ext cx="521208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Mohammad Mahafuj Rahman</a:t>
            </a:r>
          </a:p>
          <a:p>
            <a:pPr algn="ctr"/>
            <a:r>
              <a:rPr sz="1600" b="0">
                <a:solidFill>
                  <a:srgbClr val="B0B8C8"/>
                </a:solidFill>
              </a:rPr>
              <a:t>Supervisor: Prof. LiLi Bo</a:t>
            </a:r>
          </a:p>
          <a:p>
            <a:pPr algn="ctr"/>
            <a:r>
              <a:rPr sz="1400" b="0">
                <a:solidFill>
                  <a:srgbClr val="B0B8C8"/>
                </a:solidFill>
              </a:rPr>
              <a:t>School of Information Engineering, Yangzhou University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/>
            </a:r>
          </a:p>
          <a:p>
            <a:pPr algn="ctr"/>
            <a:r>
              <a:rPr sz="1800" b="0">
                <a:solidFill>
                  <a:srgbClr val="7FAED4"/>
                </a:solidFill>
              </a:rPr>
              <a:t>请各位老师批评指正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